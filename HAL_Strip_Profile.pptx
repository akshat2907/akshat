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HAL Price (USD)</c:v>
                </c:pt>
              </c:strCache>
            </c:strRef>
          </c:tx>
          <c:spPr>
            <a:solidFill>
              <a:srgbClr val="CC2133"/>
            </a:solidFill>
            <a:ln w="25400" cap="flat">
              <a:solidFill>
                <a:srgbClr val="CC21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C2133"/>
              </a:solidFill>
              <a:ln w="9525" cap="flat">
                <a:solidFill>
                  <a:srgbClr val="CC21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Mar'25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  <c:pt idx="4">
                    <c:v>Jul</c:v>
                  </c:pt>
                  <c:pt idx="5">
                    <c:v>Aug</c:v>
                  </c:pt>
                  <c:pt idx="6">
                    <c:v>Sep</c:v>
                  </c:pt>
                  <c:pt idx="7">
                    <c:v>Oct</c:v>
                  </c:pt>
                  <c:pt idx="8">
                    <c:v>Nov</c:v>
                  </c:pt>
                  <c:pt idx="9">
                    <c:v>Dec</c:v>
                  </c:pt>
                  <c:pt idx="10">
                    <c:v>Jan'26</c:v>
                  </c:pt>
                  <c:pt idx="11">
                    <c:v>Feb</c:v>
                  </c:pt>
                  <c:pt idx="12">
                    <c:v>Mar'26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24.71</c:v>
                </c:pt>
                <c:pt idx="1">
                  <c:v>22.8</c:v>
                </c:pt>
                <c:pt idx="2">
                  <c:v>21.5</c:v>
                </c:pt>
                <c:pt idx="3">
                  <c:v>20.9</c:v>
                </c:pt>
                <c:pt idx="4">
                  <c:v>22.3</c:v>
                </c:pt>
                <c:pt idx="5">
                  <c:v>25.1</c:v>
                </c:pt>
                <c:pt idx="6">
                  <c:v>27.8</c:v>
                </c:pt>
                <c:pt idx="7">
                  <c:v>30.2</c:v>
                </c:pt>
                <c:pt idx="8">
                  <c:v>33.5</c:v>
                </c:pt>
                <c:pt idx="9">
                  <c:v>34.8</c:v>
                </c:pt>
                <c:pt idx="10">
                  <c:v>36.2</c:v>
                </c:pt>
                <c:pt idx="11">
                  <c:v>35.5</c:v>
                </c:pt>
                <c:pt idx="12">
                  <c:v>35.93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18"/>
        </c:scaling>
        <c:delete val="0"/>
        <c:axPos val="l"/>
        <c:majorGridlines>
          <c:spPr>
            <a:ln w="6350" cap="flat">
              <a:solidFill>
                <a:srgbClr val="CCCC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91440"/>
            <a:ext cx="91440" cy="365760"/>
          </a:xfrm>
          <a:prstGeom prst="rect">
            <a:avLst/>
          </a:prstGeom>
          <a:solidFill>
            <a:srgbClr val="CC2133"/>
          </a:solidFill>
          <a:ln w="12700">
            <a:solidFill>
              <a:srgbClr val="CC21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34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Halliburton Company (NYSE: HAL)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45720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Oilfield Services  |  Energy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1325880" cy="365760"/>
          </a:xfrm>
          <a:prstGeom prst="rect">
            <a:avLst/>
          </a:prstGeom>
          <a:solidFill>
            <a:srgbClr val="CC2133"/>
          </a:solidFill>
          <a:ln w="12700">
            <a:solidFill>
              <a:srgbClr val="CC21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9144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  |  NYSE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2880" y="694944"/>
            <a:ext cx="8778240" cy="0"/>
          </a:xfrm>
          <a:prstGeom prst="line">
            <a:avLst/>
          </a:prstGeom>
          <a:noFill/>
          <a:ln w="19050">
            <a:solidFill>
              <a:srgbClr val="CC21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749808"/>
            <a:ext cx="0" cy="5870448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3401568"/>
            <a:ext cx="87782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768096"/>
            <a:ext cx="73152" cy="219456"/>
          </a:xfrm>
          <a:prstGeom prst="rect">
            <a:avLst/>
          </a:prstGeom>
          <a:solidFill>
            <a:srgbClr val="CC2133"/>
          </a:solidFill>
          <a:ln w="12700">
            <a:solidFill>
              <a:srgbClr val="CC21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74980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4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" y="1042416"/>
            <a:ext cx="4251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HQ: Houston, TX (dual HQ: Dubai, UAE); Founded: 1919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Employees: ~46,000 globally in 70+ countries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CEO: Jeff Miller (Chairman, President &amp; CEO since 2019)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CFO: Eric Carre (EVP &amp; CFO since May 2022)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Cap: ~$30.1B | Price: $35.93 | Shares: 837.5M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P/E: ~23.9x | Dividend Yield: 1.9% | Beta: ~1.3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52-Wk Range: $18.72 – $37.03 (+40.9% YoY)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768096"/>
            <a:ext cx="73152" cy="219456"/>
          </a:xfrm>
          <a:prstGeom prst="rect">
            <a:avLst/>
          </a:prstGeom>
          <a:solidFill>
            <a:srgbClr val="CC2133"/>
          </a:solidFill>
          <a:ln w="12700">
            <a:solidFill>
              <a:srgbClr val="CC21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2896" y="7498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4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&amp; Positioning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73168" y="1042416"/>
            <a:ext cx="4160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World's 2nd-largest oilfield services company; #1 in North America by market share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Segments: Completion &amp; Production (58% of rev); Drilling &amp; Evaluation (42%)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position in hydraulic fracturing &amp; completions (~50% of total revenue)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Region: North America $9.6B (42%); Middle East/Asia $6.1B (27%); LatAm $4.2B (18%); EMEA $3.0B (13%)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engines: drilling technology, unconventionals, well intervention, artificial lift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Returned &gt;$1.6B to shareholders in FY2024 (~60% free cash flow return rate)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Customers: major IOCs, NOCs, independents across 70+ countries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3456432"/>
            <a:ext cx="73152" cy="219456"/>
          </a:xfrm>
          <a:prstGeom prst="rect">
            <a:avLst/>
          </a:prstGeom>
          <a:solidFill>
            <a:srgbClr val="CC2133"/>
          </a:solidFill>
          <a:ln w="12700">
            <a:solidFill>
              <a:srgbClr val="CC21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" y="343814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4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Financials &amp; Valuation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3749040"/>
          <a:ext cx="4251960" cy="2834640"/>
        </p:xfrm>
        <a:graphic>
          <a:graphicData uri="http://schemas.openxmlformats.org/drawingml/2006/table">
            <a:tbl>
              <a:tblPr/>
              <a:tblGrid>
                <a:gridCol w="1920240"/>
                <a:gridCol w="822960"/>
                <a:gridCol w="822960"/>
                <a:gridCol w="82296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 ($B unless noted)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1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FY2023A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1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1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133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YoY Growth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Income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~$3.5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Op. Margin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~$4.5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~$4.3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 Margin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~19.6%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~18.8%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Income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EPS (GAAP, diluted)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~$1.50E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Cash Flow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Value / EBITDA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Cap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$30.1B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754880" y="3456432"/>
            <a:ext cx="73152" cy="219456"/>
          </a:xfrm>
          <a:prstGeom prst="rect">
            <a:avLst/>
          </a:prstGeom>
          <a:solidFill>
            <a:srgbClr val="CC2133"/>
          </a:solidFill>
          <a:ln w="12700">
            <a:solidFill>
              <a:srgbClr val="CC21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82896" y="343814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4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Performance &amp; Ownership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773168" y="3712464"/>
          <a:ext cx="41605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8"/>
          <p:cNvSpPr/>
          <p:nvPr/>
        </p:nvSpPr>
        <p:spPr>
          <a:xfrm>
            <a:off x="4754880" y="5614416"/>
            <a:ext cx="54864" cy="182880"/>
          </a:xfrm>
          <a:prstGeom prst="rect">
            <a:avLst/>
          </a:prstGeom>
          <a:solidFill>
            <a:srgbClr val="CC2133"/>
          </a:solidFill>
          <a:ln w="12700">
            <a:solidFill>
              <a:srgbClr val="CC213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46320" y="560527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34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Shareholders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4773168" y="5824728"/>
            <a:ext cx="41605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Vanguard Group:  ~8.8%</a:t>
            </a:r>
            <a:endParaRPr lang="en-US" sz="8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BlackRock, Inc.:  ~7.5%</a:t>
            </a:r>
            <a:endParaRPr lang="en-US" sz="8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Research Global:  ~6.2%</a:t>
            </a:r>
            <a:endParaRPr lang="en-US" sz="8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Street Corp.:  ~4.4%</a:t>
            </a:r>
            <a:endParaRPr lang="en-US" sz="8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Capital Mgmt.:  ~2.1%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182880" y="6638544"/>
            <a:ext cx="8778240" cy="0"/>
          </a:xfrm>
          <a:prstGeom prst="line">
            <a:avLst/>
          </a:prstGeom>
          <a:noFill/>
          <a:ln w="9525">
            <a:solidFill>
              <a:srgbClr val="CC213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01168" y="6656832"/>
            <a:ext cx="8741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Halliburton Q4 2024 Earnings Release; SEC EDGAR 10-K FY2024; Bullfincher; StockAnalysis; MacroTrends; Fintel; BrandPalettes. As of March 13, 2026.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2026-03-13T18:11:40Z</dcterms:created>
  <dcterms:modified xsi:type="dcterms:W3CDTF">2026-03-13T18:11:40Z</dcterms:modified>
</cp:coreProperties>
</file>